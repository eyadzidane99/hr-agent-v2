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0160">
            <a:solidFill>
              <a:srgbClr val="E7E7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5624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 General</a:t>
            </a:r>
            <a:endParaRPr lang="en-US" sz="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0256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0256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49808" y="-1115568"/>
            <a:ext cx="3886200" cy="1993392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52928" y="210312"/>
            <a:ext cx="713232" cy="713232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5603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157423" y="310896"/>
            <a:ext cx="124358" cy="124358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450799"/>
            <a:ext cx="404165" cy="264262"/>
          </a:xfrm>
          <a:prstGeom prst="arc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15968" y="2651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6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Agent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62179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Assessment &amp; Process Filtration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720072" y="484632"/>
            <a:ext cx="512064" cy="402336"/>
          </a:xfrm>
          <a:prstGeom prst="line">
            <a:avLst/>
          </a:prstGeom>
          <a:noFill/>
          <a:ln w="19050">
            <a:solidFill>
              <a:srgbClr val="E6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56064" y="265176"/>
            <a:ext cx="155448" cy="155448"/>
          </a:xfrm>
          <a:prstGeom prst="diamond">
            <a:avLst/>
          </a:prstGeom>
          <a:solidFill>
            <a:srgbClr val="FFFFFF">
              <a:alpha val="0"/>
            </a:srgbClr>
          </a:solidFill>
          <a:ln w="15240">
            <a:solidFill>
              <a:srgbClr val="E6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04120" y="164592"/>
            <a:ext cx="182880" cy="182880"/>
          </a:xfrm>
          <a:prstGeom prst="diamond">
            <a:avLst/>
          </a:prstGeom>
          <a:solidFill>
            <a:srgbClr val="FFFFFF">
              <a:alpha val="0"/>
            </a:srgbClr>
          </a:solidFill>
          <a:ln w="15240">
            <a:solidFill>
              <a:srgbClr val="E6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05288" y="502920"/>
            <a:ext cx="118872" cy="118872"/>
          </a:xfrm>
          <a:prstGeom prst="diamond">
            <a:avLst/>
          </a:prstGeom>
          <a:solidFill>
            <a:srgbClr val="FFFFFF">
              <a:alpha val="0"/>
            </a:srgbClr>
          </a:solidFill>
          <a:ln w="13970">
            <a:solidFill>
              <a:srgbClr val="E6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1261872"/>
            <a:ext cx="5321808" cy="2880360"/>
          </a:xfrm>
          <a:prstGeom prst="roundRect">
            <a:avLst>
              <a:gd name="adj" fmla="val 2540"/>
            </a:avLst>
          </a:prstGeom>
          <a:solidFill>
            <a:srgbClr val="F2F3F6"/>
          </a:solidFill>
          <a:ln w="12700">
            <a:solidFill>
              <a:srgbClr val="F2F3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1536192"/>
            <a:ext cx="713232" cy="246888"/>
          </a:xfrm>
          <a:prstGeom prst="roundRect">
            <a:avLst>
              <a:gd name="adj" fmla="val 29630"/>
            </a:avLst>
          </a:prstGeom>
          <a:solidFill>
            <a:srgbClr val="5368D9"/>
          </a:solidFill>
          <a:ln w="12700">
            <a:solidFill>
              <a:srgbClr val="5368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154533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681728" y="1536192"/>
            <a:ext cx="841248" cy="246888"/>
          </a:xfrm>
          <a:prstGeom prst="roundRect">
            <a:avLst>
              <a:gd name="adj" fmla="val 29630"/>
            </a:avLst>
          </a:prstGeom>
          <a:solidFill>
            <a:srgbClr val="43A99A"/>
          </a:solidFill>
          <a:ln w="12700">
            <a:solidFill>
              <a:srgbClr val="43A99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81728" y="154533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804672" y="1938528"/>
            <a:ext cx="13716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2075688"/>
            <a:ext cx="251643" cy="338145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E6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447" y="2201509"/>
            <a:ext cx="141549" cy="0"/>
          </a:xfrm>
          <a:prstGeom prst="line">
            <a:avLst/>
          </a:prstGeom>
          <a:noFill/>
          <a:ln w="12700">
            <a:solidFill>
              <a:srgbClr val="E6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9447" y="2264420"/>
            <a:ext cx="141549" cy="0"/>
          </a:xfrm>
          <a:prstGeom prst="line">
            <a:avLst/>
          </a:prstGeom>
          <a:noFill/>
          <a:ln w="12700">
            <a:solidFill>
              <a:srgbClr val="E6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9447" y="2327331"/>
            <a:ext cx="102230" cy="0"/>
          </a:xfrm>
          <a:prstGeom prst="line">
            <a:avLst/>
          </a:prstGeom>
          <a:noFill/>
          <a:ln w="12700">
            <a:solidFill>
              <a:srgbClr val="E600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252728" y="2039112"/>
            <a:ext cx="804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5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CV</a:t>
            </a:r>
            <a:endParaRPr lang="en-US" sz="920" dirty="0"/>
          </a:p>
        </p:txBody>
      </p:sp>
      <p:sp>
        <p:nvSpPr>
          <p:cNvPr id="24" name="Text 22"/>
          <p:cNvSpPr txBox="1"/>
          <p:nvPr/>
        </p:nvSpPr>
        <p:spPr>
          <a:xfrm>
            <a:off x="1252728" y="2221992"/>
            <a:ext cx="804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upload &amp; extraction</a:t>
            </a:r>
            <a:endParaRPr lang="en-US" sz="670" dirty="0"/>
          </a:p>
        </p:txBody>
      </p:sp>
      <p:sp>
        <p:nvSpPr>
          <p:cNvPr id="25" name="Shape 23"/>
          <p:cNvSpPr/>
          <p:nvPr/>
        </p:nvSpPr>
        <p:spPr>
          <a:xfrm>
            <a:off x="804672" y="2779776"/>
            <a:ext cx="13716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3762" y="2935224"/>
            <a:ext cx="105339" cy="105339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5368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5256" y="3053730"/>
            <a:ext cx="342351" cy="223845"/>
          </a:xfrm>
          <a:prstGeom prst="arc">
            <a:avLst/>
          </a:prstGeom>
          <a:solidFill>
            <a:srgbClr val="FFFFFF">
              <a:alpha val="0"/>
            </a:srgbClr>
          </a:solidFill>
          <a:ln w="19050">
            <a:solidFill>
              <a:srgbClr val="5368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252728" y="2880360"/>
            <a:ext cx="804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5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 Data</a:t>
            </a:r>
            <a:endParaRPr lang="en-US" sz="920" dirty="0"/>
          </a:p>
        </p:txBody>
      </p:sp>
      <p:sp>
        <p:nvSpPr>
          <p:cNvPr id="29" name="Text 27"/>
          <p:cNvSpPr txBox="1"/>
          <p:nvPr/>
        </p:nvSpPr>
        <p:spPr>
          <a:xfrm>
            <a:off x="1252728" y="306324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Role, interviewer &amp; feedback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2788920" y="1920240"/>
            <a:ext cx="1261872" cy="1572768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BCC1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18688" y="2029968"/>
            <a:ext cx="402336" cy="402336"/>
          </a:xfrm>
          <a:prstGeom prst="ellipse">
            <a:avLst/>
          </a:prstGeom>
          <a:solidFill>
            <a:srgbClr val="5368D9"/>
          </a:solidFill>
          <a:ln w="12700">
            <a:solidFill>
              <a:srgbClr val="5368D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218688" y="207568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2971800" y="2551176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03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AGENT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2953512" y="281635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workflow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2926080" y="3008376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19-point assessment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2194560" y="2679192"/>
            <a:ext cx="438912" cy="0"/>
          </a:xfrm>
          <a:prstGeom prst="line">
            <a:avLst/>
          </a:prstGeom>
          <a:noFill/>
          <a:ln w="20320">
            <a:solidFill>
              <a:srgbClr val="5368D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133088" y="2679192"/>
            <a:ext cx="420624" cy="0"/>
          </a:xfrm>
          <a:prstGeom prst="line">
            <a:avLst/>
          </a:prstGeom>
          <a:noFill/>
          <a:ln w="20320">
            <a:solidFill>
              <a:srgbClr val="5368D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572000" y="1938528"/>
            <a:ext cx="11155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81728" y="2075688"/>
            <a:ext cx="245791" cy="330281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43A99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35495" y="2198583"/>
            <a:ext cx="138257" cy="0"/>
          </a:xfrm>
          <a:prstGeom prst="line">
            <a:avLst/>
          </a:prstGeom>
          <a:noFill/>
          <a:ln w="12700">
            <a:solidFill>
              <a:srgbClr val="43A99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35495" y="2260031"/>
            <a:ext cx="138257" cy="0"/>
          </a:xfrm>
          <a:prstGeom prst="line">
            <a:avLst/>
          </a:prstGeom>
          <a:noFill/>
          <a:ln w="12700">
            <a:solidFill>
              <a:srgbClr val="43A99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35495" y="2321479"/>
            <a:ext cx="99852" cy="0"/>
          </a:xfrm>
          <a:prstGeom prst="line">
            <a:avLst/>
          </a:prstGeom>
          <a:noFill/>
          <a:ln w="12700">
            <a:solidFill>
              <a:srgbClr val="43A99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047488" y="201168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5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</a:t>
            </a:r>
            <a:endParaRPr lang="en-US" sz="840" dirty="0"/>
          </a:p>
          <a:p>
            <a:pPr algn="l" indent="0" marL="0">
              <a:buNone/>
            </a:pPr>
            <a:r>
              <a:rPr lang="en-US" sz="840" b="1" dirty="0">
                <a:solidFill>
                  <a:srgbClr val="25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840" dirty="0"/>
          </a:p>
        </p:txBody>
      </p:sp>
      <p:sp>
        <p:nvSpPr>
          <p:cNvPr id="44" name="Text 42"/>
          <p:cNvSpPr txBox="1"/>
          <p:nvPr/>
        </p:nvSpPr>
        <p:spPr>
          <a:xfrm>
            <a:off x="5047488" y="2377440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&amp; saved</a:t>
            </a:r>
            <a:endParaRPr lang="en-US" sz="580" dirty="0"/>
          </a:p>
        </p:txBody>
      </p:sp>
      <p:sp>
        <p:nvSpPr>
          <p:cNvPr id="45" name="Shape 43"/>
          <p:cNvSpPr/>
          <p:nvPr/>
        </p:nvSpPr>
        <p:spPr>
          <a:xfrm>
            <a:off x="4572000" y="2779776"/>
            <a:ext cx="111556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63440" y="2944368"/>
            <a:ext cx="271028" cy="271028"/>
          </a:xfrm>
          <a:prstGeom prst="roundRect">
            <a:avLst>
              <a:gd name="adj" fmla="val 26991"/>
            </a:avLst>
          </a:prstGeom>
          <a:solidFill>
            <a:srgbClr val="FFFFFF"/>
          </a:solidFill>
          <a:ln w="12700">
            <a:solidFill>
              <a:srgbClr val="43A99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27631" y="3087014"/>
            <a:ext cx="57059" cy="57059"/>
          </a:xfrm>
          <a:prstGeom prst="line">
            <a:avLst/>
          </a:prstGeom>
          <a:noFill/>
          <a:ln w="19050">
            <a:solidFill>
              <a:srgbClr val="43A99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84689" y="3144073"/>
            <a:ext cx="99852" cy="-121249"/>
          </a:xfrm>
          <a:prstGeom prst="line">
            <a:avLst/>
          </a:prstGeom>
          <a:noFill/>
          <a:ln w="19050">
            <a:solidFill>
              <a:srgbClr val="43A99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047488" y="2843784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5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&amp;</a:t>
            </a:r>
            <a:endParaRPr lang="en-US" sz="840" dirty="0"/>
          </a:p>
          <a:p>
            <a:pPr algn="l" indent="0" marL="0">
              <a:buNone/>
            </a:pPr>
            <a:r>
              <a:rPr lang="en-US" sz="840" b="1" dirty="0">
                <a:solidFill>
                  <a:srgbClr val="25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840" dirty="0"/>
          </a:p>
        </p:txBody>
      </p:sp>
      <p:sp>
        <p:nvSpPr>
          <p:cNvPr id="50" name="Text 48"/>
          <p:cNvSpPr txBox="1"/>
          <p:nvPr/>
        </p:nvSpPr>
        <p:spPr>
          <a:xfrm>
            <a:off x="5047488" y="3218688"/>
            <a:ext cx="5303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/ fail ready</a:t>
            </a:r>
            <a:endParaRPr lang="en-US" sz="580" dirty="0"/>
          </a:p>
        </p:txBody>
      </p:sp>
      <p:sp>
        <p:nvSpPr>
          <p:cNvPr id="51" name="Text 49"/>
          <p:cNvSpPr txBox="1"/>
          <p:nvPr/>
        </p:nvSpPr>
        <p:spPr>
          <a:xfrm>
            <a:off x="667512" y="4297680"/>
            <a:ext cx="5138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424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CV Intake to Consistent, Searchable Hiring Decisions in One Guided Flow</a:t>
            </a:r>
            <a:endParaRPr lang="en-US" sz="1130" dirty="0"/>
          </a:p>
        </p:txBody>
      </p:sp>
      <p:sp>
        <p:nvSpPr>
          <p:cNvPr id="52" name="Text 50"/>
          <p:cNvSpPr txBox="1"/>
          <p:nvPr/>
        </p:nvSpPr>
        <p:spPr>
          <a:xfrm>
            <a:off x="6272784" y="12801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6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</a:t>
            </a:r>
            <a:endParaRPr lang="en-US" sz="1750" dirty="0"/>
          </a:p>
        </p:txBody>
      </p:sp>
      <p:sp>
        <p:nvSpPr>
          <p:cNvPr id="53" name="Shape 51"/>
          <p:cNvSpPr/>
          <p:nvPr/>
        </p:nvSpPr>
        <p:spPr>
          <a:xfrm>
            <a:off x="6272784" y="1700784"/>
            <a:ext cx="64008" cy="64008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455664" y="1636776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25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Fragmented Candidate Records</a:t>
            </a:r>
            <a:endParaRPr lang="en-US" sz="1040" dirty="0"/>
          </a:p>
        </p:txBody>
      </p:sp>
      <p:sp>
        <p:nvSpPr>
          <p:cNvPr id="55" name="Text 53"/>
          <p:cNvSpPr txBox="1"/>
          <p:nvPr/>
        </p:nvSpPr>
        <p:spPr>
          <a:xfrm>
            <a:off x="6455664" y="1856232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CVs, interview notes, and assessment results are often stored in separate places.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272784" y="2423160"/>
            <a:ext cx="64008" cy="64008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455664" y="2359152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25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Inconsistent Technical Evaluation</a:t>
            </a:r>
            <a:endParaRPr lang="en-US" sz="1040" dirty="0"/>
          </a:p>
        </p:txBody>
      </p:sp>
      <p:sp>
        <p:nvSpPr>
          <p:cNvPr id="58" name="Text 56"/>
          <p:cNvSpPr txBox="1"/>
          <p:nvPr/>
        </p:nvSpPr>
        <p:spPr>
          <a:xfrm>
            <a:off x="6455664" y="2578608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Unstructured interviews make candidate comparison subjective and difficult to audit.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272784" y="3145536"/>
            <a:ext cx="64008" cy="64008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455664" y="3081528"/>
            <a:ext cx="4718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2525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Manual Effort &amp; Slow Retrieval</a:t>
            </a:r>
            <a:endParaRPr lang="en-US" sz="1040" dirty="0"/>
          </a:p>
        </p:txBody>
      </p:sp>
      <p:sp>
        <p:nvSpPr>
          <p:cNvPr id="61" name="Text 59"/>
          <p:cNvSpPr txBox="1"/>
          <p:nvPr/>
        </p:nvSpPr>
        <p:spPr>
          <a:xfrm>
            <a:off x="6455664" y="3300984"/>
            <a:ext cx="4718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262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data entry and record searching delay shortlisting and follow-up.</a:t>
            </a:r>
            <a:endParaRPr 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6272784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6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1750" dirty="0"/>
          </a:p>
        </p:txBody>
      </p:sp>
      <p:sp>
        <p:nvSpPr>
          <p:cNvPr id="63" name="Shape 61"/>
          <p:cNvSpPr/>
          <p:nvPr/>
        </p:nvSpPr>
        <p:spPr>
          <a:xfrm>
            <a:off x="6291072" y="4315968"/>
            <a:ext cx="50292" cy="50292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455664" y="42611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454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Add, Search, and Update candidate workflows</a:t>
            </a:r>
            <a:endParaRPr lang="en-US" sz="910" dirty="0"/>
          </a:p>
        </p:txBody>
      </p:sp>
      <p:sp>
        <p:nvSpPr>
          <p:cNvPr id="65" name="Shape 63"/>
          <p:cNvSpPr/>
          <p:nvPr/>
        </p:nvSpPr>
        <p:spPr>
          <a:xfrm>
            <a:off x="6291072" y="4599432"/>
            <a:ext cx="50292" cy="50292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455664" y="454456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454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CV upload with text extraction and record storage</a:t>
            </a:r>
            <a:endParaRPr lang="en-US" sz="910" dirty="0"/>
          </a:p>
        </p:txBody>
      </p:sp>
      <p:sp>
        <p:nvSpPr>
          <p:cNvPr id="67" name="Shape 65"/>
          <p:cNvSpPr/>
          <p:nvPr/>
        </p:nvSpPr>
        <p:spPr>
          <a:xfrm>
            <a:off x="6291072" y="4882896"/>
            <a:ext cx="50292" cy="50292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455664" y="4828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454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Standardized 19-criteria QA technical assessment</a:t>
            </a:r>
            <a:endParaRPr lang="en-US" sz="910" dirty="0"/>
          </a:p>
        </p:txBody>
      </p:sp>
      <p:sp>
        <p:nvSpPr>
          <p:cNvPr id="69" name="Shape 67"/>
          <p:cNvSpPr/>
          <p:nvPr/>
        </p:nvSpPr>
        <p:spPr>
          <a:xfrm>
            <a:off x="6291072" y="5166360"/>
            <a:ext cx="50292" cy="50292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455664" y="511149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454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scoring with pass / fail recommendation</a:t>
            </a:r>
            <a:endParaRPr lang="en-US" sz="910" dirty="0"/>
          </a:p>
        </p:txBody>
      </p:sp>
      <p:sp>
        <p:nvSpPr>
          <p:cNvPr id="71" name="Shape 69"/>
          <p:cNvSpPr/>
          <p:nvPr/>
        </p:nvSpPr>
        <p:spPr>
          <a:xfrm>
            <a:off x="6291072" y="5449824"/>
            <a:ext cx="50292" cy="50292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455664" y="53949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454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Searchable profiles with resumable assessment history</a:t>
            </a:r>
            <a:endParaRPr lang="en-US" sz="910" dirty="0"/>
          </a:p>
        </p:txBody>
      </p:sp>
      <p:sp>
        <p:nvSpPr>
          <p:cNvPr id="73" name="Shape 71"/>
          <p:cNvSpPr/>
          <p:nvPr/>
        </p:nvSpPr>
        <p:spPr>
          <a:xfrm>
            <a:off x="6291072" y="5733288"/>
            <a:ext cx="50292" cy="50292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455664" y="567842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454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Vodafone-branded interface for the full process</a:t>
            </a:r>
            <a:endParaRPr lang="en-US" sz="910" dirty="0"/>
          </a:p>
        </p:txBody>
      </p:sp>
      <p:sp>
        <p:nvSpPr>
          <p:cNvPr id="75" name="Shape 73"/>
          <p:cNvSpPr/>
          <p:nvPr/>
        </p:nvSpPr>
        <p:spPr>
          <a:xfrm rot="2100000">
            <a:off x="548640" y="5961888"/>
            <a:ext cx="338328" cy="338328"/>
          </a:xfrm>
          <a:prstGeom prst="arc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0080" y="604418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905256" y="5934456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6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vodafone</a:t>
            </a:r>
            <a:endParaRPr lang="en-US" sz="2000" dirty="0"/>
          </a:p>
        </p:txBody>
      </p:sp>
      <p:sp>
        <p:nvSpPr>
          <p:cNvPr id="78" name="Shape 76"/>
          <p:cNvSpPr/>
          <p:nvPr/>
        </p:nvSpPr>
        <p:spPr>
          <a:xfrm>
            <a:off x="10177272" y="5568696"/>
            <a:ext cx="53035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305288" y="5669280"/>
            <a:ext cx="54864" cy="54864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506456" y="5669280"/>
            <a:ext cx="54864" cy="54864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442448" y="5413248"/>
            <a:ext cx="0" cy="155448"/>
          </a:xfrm>
          <a:prstGeom prst="line">
            <a:avLst/>
          </a:prstGeom>
          <a:noFill/>
          <a:ln w="15240">
            <a:solidFill>
              <a:srgbClr val="E6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405872" y="5367528"/>
            <a:ext cx="73152" cy="73152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076688" y="5696712"/>
            <a:ext cx="100584" cy="91440"/>
          </a:xfrm>
          <a:prstGeom prst="line">
            <a:avLst/>
          </a:prstGeom>
          <a:noFill/>
          <a:ln w="15240">
            <a:solidFill>
              <a:srgbClr val="E6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707624" y="5696712"/>
            <a:ext cx="100584" cy="-91440"/>
          </a:xfrm>
          <a:prstGeom prst="line">
            <a:avLst/>
          </a:prstGeom>
          <a:noFill/>
          <a:ln w="15240">
            <a:solidFill>
              <a:srgbClr val="E6000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0256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Vodafone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Agent — Candidate Assessment &amp; Process Filtration</dc:title>
  <dc:subject>Vodafone HR Agent project introduction</dc:subject>
  <dc:creator>HR Agent Project Team</dc:creator>
  <cp:lastModifiedBy>HR Agent Project Team</cp:lastModifiedBy>
  <cp:revision>1</cp:revision>
  <dcterms:created xsi:type="dcterms:W3CDTF">2026-07-21T14:16:55Z</dcterms:created>
  <dcterms:modified xsi:type="dcterms:W3CDTF">2026-07-21T14:16:55Z</dcterms:modified>
</cp:coreProperties>
</file>