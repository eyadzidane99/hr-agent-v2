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75e4ffe19346ef" /><Relationship Type="http://schemas.openxmlformats.org/officeDocument/2006/relationships/extended-properties" Target="/docProps/app.xml" Id="R38cf3f2bf56e4d73" /><Relationship Type="http://schemas.openxmlformats.org/officeDocument/2006/relationships/officeDocument" Target="/ppt/presentation.xml" Id="R4e73f8f1aa0b48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7c12dd6cf04e2f"/>
  </p:sldMasterIdLst>
  <p:notesMasterIdLst>
    <p:notesMasterId xmlns:r="http://schemas.openxmlformats.org/officeDocument/2006/relationships" r:id="R68f7f2af83b44c82"/>
  </p:notesMasterIdLst>
  <p:sldIdLst>
    <p:sldId xmlns:r="http://schemas.openxmlformats.org/officeDocument/2006/relationships" id="256" r:id="R8d01a8399be3485d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c6400630824c62" /><Relationship Type="http://schemas.openxmlformats.org/officeDocument/2006/relationships/slideMaster" Target="/ppt/slideMasters/slideMaster1.xml" Id="R627c12dd6cf04e2f" /><Relationship Type="http://schemas.openxmlformats.org/officeDocument/2006/relationships/notesMaster" Target="/ppt/notesMasters/notesMaster1.xml" Id="R68f7f2af83b44c82" /><Relationship Type="http://schemas.openxmlformats.org/officeDocument/2006/relationships/presProps" Target="/ppt/presProps.xml" Id="R60cb19ed396a483e" /><Relationship Type="http://schemas.openxmlformats.org/officeDocument/2006/relationships/viewProps" Target="/ppt/viewProps.xml" Id="Rfe7c3db782a94617" /><Relationship Type="http://schemas.openxmlformats.org/officeDocument/2006/relationships/tableStyles" Target="/ppt/tableStyles.xml" Id="R5b0301f34df54029" /><Relationship Type="http://schemas.openxmlformats.org/officeDocument/2006/relationships/slide" Target="/ppt/slides/slide1.xml" Id="R8d01a8399be348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06cde12b4e45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699aac5fb84702" /><Relationship Type="http://schemas.openxmlformats.org/officeDocument/2006/relationships/notesMaster" Target="/ppt/notesMasters/notesMaster1.xml" Id="Rd0bdfd27429d4b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Updated to reflect the current HR Agent implementation: direct candidate entry without CV upload/download, Egyptian mobile validation, name and phone search, multiple-match selection, structured technical assessment, automatic scoring, local persistence, and workflow controls for exit and correction.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65f68ba0f42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226d12e3b43d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C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7A34E7C-3E6D-4B10-934F-46765940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10528"/>
            <a:ext cx="11384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E7E7E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2BD137-CBB7-41DA-AD25-BA4F988D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5624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50">
                <a:solidFill>
                  <a:srgbClr val="8A8A8A"/>
                </a:solidFill>
                <a:latin typeface="Aptos"/>
                <a:ea typeface="Aptos"/>
                <a:cs typeface="Aptos"/>
              </a:rPr>
              <a:t>C2 General</a:t>
            </a:r>
            <a:endParaRPr sz="5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CAF54A7-1E1E-4DE2-8195-D6CA5F4577E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02568" y="654710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00">
                <a:solidFill>
                  <a:srgbClr val="999999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921eb1d1cf4771" /><Relationship Type="http://schemas.openxmlformats.org/officeDocument/2006/relationships/slideLayout" Target="/ppt/slideLayouts/slideLayout1.xml" Id="Rddd0f74e4fd74bf7" /><Relationship Type="http://schemas.openxmlformats.org/officeDocument/2006/relationships/slideLayout" Target="/ppt/slideLayouts/slideLayout2.xml" Id="Rf583b284a4c64e5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3C776C6-2FCC-4567-BDB7-BD5F092DC01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02568" y="654710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00">
                <a:solidFill>
                  <a:srgbClr val="999999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d0f74e4fd74bf7"/>
    <p:sldLayoutId xmlns:r="http://schemas.openxmlformats.org/officeDocument/2006/relationships" id="2147483650" r:id="Rf583b284a4c64e5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8b4ce649604c53" /><Relationship Type="http://schemas.openxmlformats.org/officeDocument/2006/relationships/notesSlide" Target="/ppt/notesSlides/notesSlide1.xml" Id="Ra886afc5cb78425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5E09C7C-7123-47DA-9714-3CCCAC79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49808" y="-1115568"/>
            <a:ext cx="3886200" cy="1993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402C376-7DB5-4628-8EFD-D6A5819A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210312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2F73629-00D0-49B3-A4FF-F015A334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6032"/>
            <a:ext cx="594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HR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12FE05D-4A79-43B5-8E28-AB1A72FD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423" y="310896"/>
            <a:ext cx="124358" cy="1243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B0E68DD-B859-4750-B464-6C50C732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50799"/>
            <a:ext cx="404165" cy="264262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19CF5D4-B84A-4546-815D-4B187C5C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65176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E60000"/>
                </a:solidFill>
                <a:latin typeface="Aptos"/>
                <a:ea typeface="Aptos"/>
                <a:cs typeface="Aptos"/>
              </a:rPr>
              <a:t>HR Agent</a:t>
            </a:r>
            <a:endParaRPr sz="2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51C8A22-D2F5-41BE-A25A-E6B56103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621792"/>
            <a:ext cx="4800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626262"/>
                </a:solidFill>
                <a:latin typeface="Aptos"/>
                <a:ea typeface="Aptos"/>
                <a:cs typeface="Aptos"/>
              </a:rPr>
              <a:t>Guided Candidate Intake • Search • Update • Assessment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594D631-A4AE-43A7-BA99-6DB59805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484632"/>
            <a:ext cx="512064" cy="402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000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277BED2-7848-4777-A5C8-7B2AA0AF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064" y="265176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5240">
            <a:solidFill>
              <a:srgbClr val="E60000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897F284-BE86-487A-B2B3-972B3DC5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64592"/>
            <a:ext cx="182880" cy="18288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5240">
            <a:solidFill>
              <a:srgbClr val="E60000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FD6C226-D6AF-43D6-BC1F-D4D6C03A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502920"/>
            <a:ext cx="118872" cy="11887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3970">
            <a:solidFill>
              <a:srgbClr val="E60000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19C34DB-8CAA-46FD-8349-C65EF042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61872"/>
            <a:ext cx="5321808" cy="2880360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2F3F6"/>
          </a:solidFill>
          <a:ln xmlns:a="http://schemas.openxmlformats.org/drawingml/2006/main" w="12700">
            <a:solidFill>
              <a:srgbClr val="F2F3F6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4AED82C-20CB-4AEC-8F2A-566DFCAE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36192"/>
            <a:ext cx="713232" cy="246888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5368D9"/>
          </a:solidFill>
          <a:ln xmlns:a="http://schemas.openxmlformats.org/drawingml/2006/main" w="12700">
            <a:solidFill>
              <a:srgbClr val="5368D9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66B1DE9-0599-49D9-9B69-D7F3E201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45336"/>
            <a:ext cx="7132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INPUTS</a:t>
            </a:r>
            <a:endParaRPr sz="8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99C603F-048E-430D-A490-43417254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536192"/>
            <a:ext cx="841248" cy="246888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3A99A"/>
          </a:solidFill>
          <a:ln xmlns:a="http://schemas.openxmlformats.org/drawingml/2006/main" w="12700">
            <a:solidFill>
              <a:srgbClr val="43A99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B184264-A5C8-49BF-B219-497EF967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545336"/>
            <a:ext cx="8412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OUTPUTS</a:t>
            </a:r>
            <a:endParaRPr sz="8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EA7503B-B892-4033-B9FB-0B23AC28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38528"/>
            <a:ext cx="1371600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5EA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25707B0-CEBC-4892-B44D-77869B67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5688"/>
            <a:ext cx="251643" cy="338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6510">
            <a:solidFill>
              <a:srgbClr val="E6000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DF6262E-5256-4D23-A1CA-8D27B9A2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47" y="2201509"/>
            <a:ext cx="1415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0A1DA1E-7DC9-4BC4-B2C9-EB56C58C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47" y="2264420"/>
            <a:ext cx="1415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88CA1D1-456F-465F-A422-36D2621E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47" y="2327331"/>
            <a:ext cx="102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7D9027E-53B9-4E92-BB68-1FD65DE8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039112"/>
            <a:ext cx="804672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332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2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Candidate Profile</a:t>
            </a:r>
            <a:endParaRPr sz="92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19ED525-A559-4B18-803C-81D5B812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221992"/>
            <a:ext cx="804672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70">
                <a:solidFill>
                  <a:srgbClr val="626262"/>
                </a:solidFill>
                <a:latin typeface="Aptos"/>
                <a:ea typeface="Aptos"/>
                <a:cs typeface="Aptos"/>
              </a:rPr>
              <a:t>Name, phone, no CV upload step</a:t>
            </a:r>
            <a:endParaRPr sz="67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D17C82A-6D2B-43D7-9BDE-880EE4EF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79776"/>
            <a:ext cx="1371600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5EA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6DFDC68-546C-4632-86D6-86C1BB87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62" y="29352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9050">
            <a:solidFill>
              <a:srgbClr val="5368D9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A112DB4-253B-4CE7-ADDF-58F2032F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053730"/>
            <a:ext cx="342351" cy="223845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9050">
            <a:solidFill>
              <a:srgbClr val="5368D9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24AA817-00C2-4C98-8A97-38A757E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880360"/>
            <a:ext cx="804672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163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2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Interview Context</a:t>
            </a:r>
            <a:endParaRPr sz="92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722A258-732E-4B66-9C75-033647DB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063240"/>
            <a:ext cx="8046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55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70">
                <a:solidFill>
                  <a:srgbClr val="626262"/>
                </a:solidFill>
                <a:latin typeface="Aptos"/>
                <a:ea typeface="Aptos"/>
                <a:cs typeface="Aptos"/>
              </a:rPr>
              <a:t>Role, date, interviewer &amp; feedback</a:t>
            </a:r>
            <a:endParaRPr sz="67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E9D5050-72B1-4968-AD55-1819878A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920240"/>
            <a:ext cx="1261872" cy="1572768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CC1CA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6AE5CF0F-AC57-42A0-839B-58259D07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2996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68D9"/>
          </a:solidFill>
          <a:ln xmlns:a="http://schemas.openxmlformats.org/drawingml/2006/main" w="12700">
            <a:solidFill>
              <a:srgbClr val="5368D9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BC63C43-981D-4B0E-8F0E-E6A9C69A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75688"/>
            <a:ext cx="4023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</a:t>
            </a:r>
            <a:endParaRPr sz="11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C235C39-1626-414A-9804-4437F94E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51176"/>
            <a:ext cx="8961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30343B"/>
                </a:solidFill>
                <a:latin typeface="Aptos"/>
                <a:ea typeface="Aptos"/>
                <a:cs typeface="Aptos"/>
              </a:rPr>
              <a:t>HR AGENT</a:t>
            </a:r>
            <a:endParaRPr sz="12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95D47A3-761D-41A3-8801-CDE2C100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816352"/>
            <a:ext cx="93268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26262"/>
                </a:solidFill>
                <a:latin typeface="Aptos"/>
                <a:ea typeface="Aptos"/>
                <a:cs typeface="Aptos"/>
              </a:rPr>
              <a:t>Guided workflow</a:t>
            </a:r>
            <a:endParaRPr sz="7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E3C3FC3E-02FB-4A3E-BF99-AEED94C6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8376"/>
            <a:ext cx="9875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>
                <a:solidFill>
                  <a:srgbClr val="626262"/>
                </a:solidFill>
                <a:latin typeface="Aptos"/>
                <a:ea typeface="Aptos"/>
                <a:cs typeface="Aptos"/>
              </a:rPr>
              <a:t>19 technical criteria</a:t>
            </a:r>
            <a:endParaRPr sz="72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1DD9AEC-9D01-4ACB-9B6D-FD1D33E2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679192"/>
            <a:ext cx="4389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368D9"/>
            </a:solidFill>
            <a:prstDash val="solid"/>
            <a:tailEnd type="triangle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A20E23E-C8FE-40E6-A970-689EA157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2679192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368D9"/>
            </a:solidFill>
            <a:prstDash val="solid"/>
            <a:tailEnd type="triangle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3880D32C-8651-488F-8C84-6808F293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38528"/>
            <a:ext cx="1115568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5EA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9D413FA-5750-4F6D-B533-26B9508D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075688"/>
            <a:ext cx="245791" cy="33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6510">
            <a:solidFill>
              <a:srgbClr val="43A99A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BA0DE53A-4852-4434-8557-EF4FF364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495" y="2198583"/>
            <a:ext cx="13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3A99A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E99EE56C-43D4-4C5C-A489-56B49D90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495" y="2260031"/>
            <a:ext cx="13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3A99A"/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E481799C-94B5-4AA1-A318-3ED6F8C3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495" y="2321479"/>
            <a:ext cx="998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3A99A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A6F9C178-2148-4420-835F-2E9BD8FE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011680"/>
            <a:ext cx="530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Candidate</a:t>
            </a:r>
            <a:endParaRPr sz="840"/>
          </a:p>
          <a:p xmlns:a="http://schemas.openxmlformats.org/drawingml/2006/main">
            <a:pPr marL="0" indent="0" algn="l">
              <a:buNone/>
            </a:pPr>
            <a:r>
              <a:rPr sz="84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Record</a:t>
            </a:r>
            <a:endParaRPr sz="84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9153C16-4A8F-46D5-9545-0F51E877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377440"/>
            <a:ext cx="5303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018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">
                <a:solidFill>
                  <a:srgbClr val="626262"/>
                </a:solidFill>
                <a:latin typeface="Aptos"/>
                <a:ea typeface="Aptos"/>
                <a:cs typeface="Aptos"/>
              </a:rPr>
              <a:t>Phone searchable</a:t>
            </a:r>
            <a:endParaRPr sz="58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7DE353AF-A60B-4DDC-93A7-B94D4352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79776"/>
            <a:ext cx="1115568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5EA"/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28170D3F-011E-4D25-9E6D-5A14C989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944368"/>
            <a:ext cx="271028" cy="271028"/>
          </a:xfrm>
          <a:prstGeom xmlns:a="http://schemas.openxmlformats.org/drawingml/2006/main" prst="roundRect">
            <a:avLst>
              <a:gd name="adj" fmla="val 269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3A99A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81F6D5EC-14DA-454F-9F83-AB4BF2AD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631" y="3087014"/>
            <a:ext cx="57059" cy="570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A99A"/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9FAA7BC2-6978-45B3-9079-C42F8487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689" y="3022824"/>
            <a:ext cx="99852" cy="1212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A99A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BDB5375F-155A-489C-882B-370D4032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843784"/>
            <a:ext cx="530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Score &amp;</a:t>
            </a:r>
            <a:endParaRPr sz="840"/>
          </a:p>
          <a:p xmlns:a="http://schemas.openxmlformats.org/drawingml/2006/main">
            <a:pPr marL="0" indent="0" algn="l">
              <a:buNone/>
            </a:pPr>
            <a:r>
              <a:rPr sz="84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Decision</a:t>
            </a:r>
            <a:endParaRPr sz="84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37B4BA2C-FFA7-4D7D-AC51-7570F9DD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218688"/>
            <a:ext cx="5303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">
                <a:solidFill>
                  <a:srgbClr val="626262"/>
                </a:solidFill>
                <a:latin typeface="Aptos"/>
                <a:ea typeface="Aptos"/>
                <a:cs typeface="Aptos"/>
              </a:rPr>
              <a:t>Pass / fail ready</a:t>
            </a:r>
            <a:endParaRPr sz="58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8BD68B5-89B4-4C54-923A-34C70E17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97680"/>
            <a:ext cx="5138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30" b="1">
                <a:solidFill>
                  <a:srgbClr val="42464D"/>
                </a:solidFill>
                <a:latin typeface="Aptos"/>
                <a:ea typeface="Aptos"/>
                <a:cs typeface="Aptos"/>
              </a:rPr>
              <a:t>From structured intake to consistent, searchable hiring decisions</a:t>
            </a:r>
            <a:endParaRPr sz="113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9DC107B8-10E6-4985-80C6-995C9249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28016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1">
                <a:solidFill>
                  <a:srgbClr val="E60000"/>
                </a:solidFill>
                <a:latin typeface="Aptos"/>
                <a:ea typeface="Aptos"/>
                <a:cs typeface="Aptos"/>
              </a:rPr>
              <a:t>Challenge</a:t>
            </a:r>
            <a:endParaRPr sz="175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6F5A3CB6-94BF-4A53-886B-25E2B622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70078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9711C90D-1F16-4BC0-8A4E-86164DB6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636776"/>
            <a:ext cx="47183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Unstructured Candidate Intake</a:t>
            </a:r>
            <a:endParaRPr sz="104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B3AAD240-685D-4B94-BE63-4E752609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56232"/>
            <a:ext cx="47183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626262"/>
                </a:solidFill>
                <a:latin typeface="Aptos"/>
                <a:ea typeface="Aptos"/>
                <a:cs typeface="Aptos"/>
              </a:rPr>
              <a:t>Missing phone data, inconsistent fields, and manual entry slow down the process.</a:t>
            </a:r>
            <a:endParaRPr sz="85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928EAB5F-7A29-459C-999B-6309D11E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4231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46620DF0-10C8-4E05-94AD-94B46D82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359152"/>
            <a:ext cx="47183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Hard-to-find Candidate Records</a:t>
            </a:r>
            <a:endParaRPr sz="104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EF3C6AA2-0C94-4EFC-B0A4-3D292214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578608"/>
            <a:ext cx="47183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626262"/>
                </a:solidFill>
                <a:latin typeface="Aptos"/>
                <a:ea typeface="Aptos"/>
                <a:cs typeface="Aptos"/>
              </a:rPr>
              <a:t>Names alone can return multiple matches; recruiters need a reliable way to find the right profile.</a:t>
            </a:r>
            <a:endParaRPr sz="850"/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6A0DAB64-76A2-4449-82CE-92B93F44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145536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49AD5C93-7A64-46A2-99AB-23572E17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081528"/>
            <a:ext cx="47183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Low Control During Data Entry</a:t>
            </a:r>
            <a:endParaRPr sz="1040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DA606D14-79D4-4EC2-BC60-79789CF1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300984"/>
            <a:ext cx="47183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626262"/>
                </a:solidFill>
                <a:latin typeface="Aptos"/>
                <a:ea typeface="Aptos"/>
                <a:cs typeface="Aptos"/>
              </a:rPr>
              <a:t>Wrong answers can force users to restart, while long forms make correction and exit unclear.</a:t>
            </a:r>
            <a:endParaRPr sz="85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46EBDFB0-F902-4035-9051-A2916C8E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1">
                <a:solidFill>
                  <a:srgbClr val="E60000"/>
                </a:solidFill>
                <a:latin typeface="Aptos"/>
                <a:ea typeface="Aptos"/>
                <a:cs typeface="Aptos"/>
              </a:rPr>
              <a:t>Solution</a:t>
            </a:r>
            <a:endParaRPr sz="175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61591A4C-6B0F-459C-9E36-EE36141D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4315968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E36C653B-EAB7-4879-9835-51976C1E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261104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10">
                <a:solidFill>
                  <a:srgbClr val="454545"/>
                </a:solidFill>
                <a:latin typeface="Aptos"/>
                <a:ea typeface="Aptos"/>
                <a:cs typeface="Aptos"/>
              </a:rPr>
              <a:t>Guided add, search, and update flows</a:t>
            </a:r>
            <a:endParaRPr sz="910"/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2847169E-FB84-496C-8DCB-A65DFD81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4599432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ABBDEAD6-9C37-4AA6-82F7-60E8A850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54456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10">
                <a:solidFill>
                  <a:srgbClr val="454545"/>
                </a:solidFill>
                <a:latin typeface="Aptos"/>
                <a:ea typeface="Aptos"/>
                <a:cs typeface="Aptos"/>
              </a:rPr>
              <a:t>Egyptian mobile validation and phone-based search</a:t>
            </a:r>
            <a:endParaRPr sz="910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2D6AEDEE-2325-4902-907C-BA39F9EB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4882896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1437A918-9A69-48D8-B6F4-C850835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82803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10">
                <a:solidFill>
                  <a:srgbClr val="454545"/>
                </a:solidFill>
                <a:latin typeface="Aptos"/>
                <a:ea typeface="Aptos"/>
                <a:cs typeface="Aptos"/>
              </a:rPr>
              <a:t>Multi-match selection before profile details</a:t>
            </a:r>
            <a:endParaRPr sz="910"/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781184D0-08CA-4192-AFD5-4ECF59E9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166360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E60B00F9-7155-4691-ADE9-A7B5E1F5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5111496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10">
                <a:solidFill>
                  <a:srgbClr val="454545"/>
                </a:solidFill>
                <a:latin typeface="Aptos"/>
                <a:ea typeface="Aptos"/>
                <a:cs typeface="Aptos"/>
              </a:rPr>
              <a:t>Structured 19-criteria assessment with comments</a:t>
            </a:r>
            <a:endParaRPr sz="910"/>
          </a:p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4495B0B1-8104-457F-AF70-B99F6C7A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44982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0154C9BE-2CD2-46C5-A87B-E1F2AB5E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5394960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10">
                <a:solidFill>
                  <a:srgbClr val="454545"/>
                </a:solidFill>
                <a:latin typeface="Aptos"/>
                <a:ea typeface="Aptos"/>
                <a:cs typeface="Aptos"/>
              </a:rPr>
              <a:t>Automatic scoring with pass / fail recommendation</a:t>
            </a:r>
            <a:endParaRPr sz="910"/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B4F7A34F-B9F7-4402-97B2-7DF1AAD1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733288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67BC4AAD-6AB0-46FE-969B-E3BB0702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5678424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10">
                <a:solidFill>
                  <a:srgbClr val="454545"/>
                </a:solidFill>
                <a:latin typeface="Aptos"/>
                <a:ea typeface="Aptos"/>
                <a:cs typeface="Aptos"/>
              </a:rPr>
              <a:t>Persistent local records with top-level exit, back, and auto-focus controls</a:t>
            </a:r>
            <a:endParaRPr sz="910"/>
          </a:p>
        </p:txBody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BD294C04-A79F-4BBC-9E7D-F16558F8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0000">
            <a:off x="548640" y="5961888"/>
            <a:ext cx="338328" cy="338328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1DDB2BCB-42F7-4B84-BED0-A7EB7E86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04418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EDB4A4DA-985E-4B76-B9E6-DF94AF94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934456"/>
            <a:ext cx="12618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E60000"/>
                </a:solidFill>
                <a:latin typeface="Aptos"/>
                <a:ea typeface="Aptos"/>
                <a:cs typeface="Aptos"/>
              </a:rPr>
              <a:t>vodafone</a:t>
            </a:r>
            <a:endParaRPr sz="2000"/>
          </a:p>
        </p:txBody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6404E307-74A1-438D-9F22-E6DBA154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5568696"/>
            <a:ext cx="530352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066F88B9-7EE1-4404-B072-0D8CE2F8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566928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A9E1AA75-09C0-4321-97CD-EDB0AB00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456" y="566928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B8C6D5CF-15A7-4381-83D6-5B4ADB9C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5413248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60000"/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5A75FBFD-B073-425C-9EC5-4F6B8160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536752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03D56401-B034-4E35-8AE8-D7B21A66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688" y="5696712"/>
            <a:ext cx="100584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60000"/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D05350D3-3D3D-49BF-A5D8-F52B8034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5605272"/>
            <a:ext cx="100584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60000"/>
            </a:solidFill>
            <a:prstDash val="solid"/>
          </a:ln>
        </p:spPr>
      </p:sp>
      <p:sp>
        <p:nvSpPr>
          <p:cNvPr id="8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5AEDC7A-9484-4136-A62E-0F34104ACDF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02568" y="654710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00">
                <a:solidFill>
                  <a:srgbClr val="999999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280991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2026-10-30T12:03:41.9660000Z</dcterms:created>
  <dcterms:modified xsi:type="dcterms:W3CDTF">2026-10-30T12:03:41.9660000Z</dcterms:modified>
</coreProperties>
</file>