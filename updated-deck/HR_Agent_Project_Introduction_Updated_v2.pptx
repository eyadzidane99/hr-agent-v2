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bb44f164df437e" /><Relationship Type="http://schemas.openxmlformats.org/officeDocument/2006/relationships/extended-properties" Target="/docProps/app.xml" Id="R27c0bc646662421c" /><Relationship Type="http://schemas.openxmlformats.org/officeDocument/2006/relationships/officeDocument" Target="/ppt/presentation.xml" Id="R8ce7a12b574340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becb71e53b44e1"/>
  </p:sldMasterIdLst>
  <p:notesMasterIdLst>
    <p:notesMasterId xmlns:r="http://schemas.openxmlformats.org/officeDocument/2006/relationships" r:id="Rd47eef56e0df426f"/>
  </p:notesMasterIdLst>
  <p:sldIdLst>
    <p:sldId xmlns:r="http://schemas.openxmlformats.org/officeDocument/2006/relationships" id="256" r:id="Rb696866e0a0d4d5d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1046b401964f80" /><Relationship Type="http://schemas.openxmlformats.org/officeDocument/2006/relationships/slideMaster" Target="/ppt/slideMasters/slideMaster1.xml" Id="Rd7becb71e53b44e1" /><Relationship Type="http://schemas.openxmlformats.org/officeDocument/2006/relationships/notesMaster" Target="/ppt/notesMasters/notesMaster1.xml" Id="Rd47eef56e0df426f" /><Relationship Type="http://schemas.openxmlformats.org/officeDocument/2006/relationships/presProps" Target="/ppt/presProps.xml" Id="Rf14219eef99b4681" /><Relationship Type="http://schemas.openxmlformats.org/officeDocument/2006/relationships/viewProps" Target="/ppt/viewProps.xml" Id="Rbd7c177ddfc64101" /><Relationship Type="http://schemas.openxmlformats.org/officeDocument/2006/relationships/tableStyles" Target="/ppt/tableStyles.xml" Id="R20c5313daeba4838" /><Relationship Type="http://schemas.openxmlformats.org/officeDocument/2006/relationships/slide" Target="/ppt/slides/slide1.xml" Id="Rb696866e0a0d4d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eae67de9004c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77cadd245e4840" /><Relationship Type="http://schemas.openxmlformats.org/officeDocument/2006/relationships/notesMaster" Target="/ppt/notesMasters/notesMaster1.xml" Id="Rafcbe604491642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Updated to reflect the current HR Agent implementation: direct candidate entry without CV upload/download, Egyptian mobile validation, name and phone search, multiple-match selection, structured technical assessment, automatic scoring, local persistence, and workflow controls for exit and correction.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d9cdf8cb547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3653f11c94e0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C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A14740-9A99-4DB3-ADF0-A0CE5B92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10528"/>
            <a:ext cx="11384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E7E7E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66D162-BBAA-43A1-8345-384ACC9A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5624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50">
                <a:solidFill>
                  <a:srgbClr val="8A8A8A"/>
                </a:solidFill>
                <a:latin typeface="Aptos"/>
                <a:ea typeface="Aptos"/>
                <a:cs typeface="Aptos"/>
              </a:rPr>
              <a:t>C2 General</a:t>
            </a:r>
            <a:endParaRPr sz="5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2C3A4AF-AB79-4F02-9583-7BB21D9B2DC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02568" y="654710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00">
                <a:solidFill>
                  <a:srgbClr val="999999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c0f44527ce4244" /><Relationship Type="http://schemas.openxmlformats.org/officeDocument/2006/relationships/slideLayout" Target="/ppt/slideLayouts/slideLayout1.xml" Id="Rd9118e9719124d85" /><Relationship Type="http://schemas.openxmlformats.org/officeDocument/2006/relationships/slideLayout" Target="/ppt/slideLayouts/slideLayout2.xml" Id="Rdf1436f0a0c4406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D1C4F98-DBDB-4834-9249-6C3D207D76E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02568" y="654710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00">
                <a:solidFill>
                  <a:srgbClr val="999999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118e9719124d85"/>
    <p:sldLayoutId xmlns:r="http://schemas.openxmlformats.org/officeDocument/2006/relationships" id="2147483650" r:id="Rdf1436f0a0c4406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87184316c8437e" /><Relationship Type="http://schemas.openxmlformats.org/officeDocument/2006/relationships/notesSlide" Target="/ppt/notesSlides/notesSlide1.xml" Id="Rc43ffe09dc0649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437959-7278-49D6-8C80-0AB1887C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49808" y="-1115568"/>
            <a:ext cx="3886200" cy="1993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C2948B2-6E6E-4382-99F9-4793509D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10312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97427DC-FCCF-4B00-90E8-8FABDCFE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6032"/>
            <a:ext cx="594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HR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DB5D4B-12CF-4AEB-8C92-02D497BB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423" y="310896"/>
            <a:ext cx="124358" cy="1243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00FC804-0271-4694-B4E5-82C0834A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50799"/>
            <a:ext cx="404165" cy="264262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7864618-248C-4E33-8014-0DCF0106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65176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E60000"/>
                </a:solidFill>
                <a:latin typeface="Aptos"/>
                <a:ea typeface="Aptos"/>
                <a:cs typeface="Aptos"/>
              </a:rPr>
              <a:t>HR Agent</a:t>
            </a:r>
            <a:endParaRPr sz="2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7A0CD9-F157-49F2-8FB1-77D88AAC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621792"/>
            <a:ext cx="4800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26262"/>
                </a:solidFill>
                <a:latin typeface="Aptos"/>
                <a:ea typeface="Aptos"/>
                <a:cs typeface="Aptos"/>
              </a:rPr>
              <a:t>Guided Candidate Intake • Search • Update • Assessment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2C8704A-C33F-4F53-8C22-180AA69F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484632"/>
            <a:ext cx="512064" cy="4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000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35197FF-FE2F-4990-913A-C7D2BE0A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064" y="265176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5240">
            <a:solidFill>
              <a:srgbClr val="E60000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FC4835-1AE0-48BA-B87E-EE79A991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64592"/>
            <a:ext cx="182880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5240">
            <a:solidFill>
              <a:srgbClr val="E60000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D29AEB-E9C7-40A3-9544-BA0A337D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502920"/>
            <a:ext cx="118872" cy="11887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3970">
            <a:solidFill>
              <a:srgbClr val="E60000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4671A51-3FCF-4A01-B671-6A474215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61872"/>
            <a:ext cx="5321808" cy="288036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2F3F6"/>
          </a:solidFill>
          <a:ln xmlns:a="http://schemas.openxmlformats.org/drawingml/2006/main" w="12700">
            <a:solidFill>
              <a:srgbClr val="F2F3F6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361E119-08AF-49D8-AB0B-CD0FBD07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36192"/>
            <a:ext cx="713232" cy="246888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5368D9"/>
          </a:solidFill>
          <a:ln xmlns:a="http://schemas.openxmlformats.org/drawingml/2006/main" w="12700">
            <a:solidFill>
              <a:srgbClr val="5368D9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4EFDAFE-0814-4575-AD6F-7C025F05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45336"/>
            <a:ext cx="7132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INPUTS</a:t>
            </a:r>
            <a:endParaRPr sz="8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16EE4C9-D3C7-4546-A106-35531839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536192"/>
            <a:ext cx="841248" cy="246888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3A99A"/>
          </a:solidFill>
          <a:ln xmlns:a="http://schemas.openxmlformats.org/drawingml/2006/main" w="12700">
            <a:solidFill>
              <a:srgbClr val="43A99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14875-CC07-41B8-AE41-E986AC4F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545336"/>
            <a:ext cx="8412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OUTPUTS</a:t>
            </a:r>
            <a:endParaRPr sz="8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F92DFA7-FF0E-4778-8B2F-5466F3E6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38528"/>
            <a:ext cx="1371600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5EA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05B6EA2-C813-4B1E-B058-2C25E407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5688"/>
            <a:ext cx="251643" cy="338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6510">
            <a:solidFill>
              <a:srgbClr val="E6000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5C6335B-CB6B-40D2-A0F1-8DD64F49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47" y="2201509"/>
            <a:ext cx="1415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EB28C3A-AEE6-4E6F-A588-7D56EB69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47" y="2264420"/>
            <a:ext cx="1415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6FDF6FF-6BCD-49AA-999E-89156FBD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47" y="2327331"/>
            <a:ext cx="102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1972463-F8CD-408E-B6DC-11CBFE90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039112"/>
            <a:ext cx="804672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332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2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Candidate Profile</a:t>
            </a:r>
            <a:endParaRPr sz="9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29FA9C8-FB56-4F35-9F01-614EAF19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221992"/>
            <a:ext cx="804672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70">
                <a:solidFill>
                  <a:srgbClr val="626262"/>
                </a:solidFill>
                <a:latin typeface="Aptos"/>
                <a:ea typeface="Aptos"/>
                <a:cs typeface="Aptos"/>
              </a:rPr>
              <a:t>Name, phone, no CV upload step</a:t>
            </a:r>
            <a:endParaRPr sz="67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F0D8084-A7BB-4CBD-A700-A8C68BB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79776"/>
            <a:ext cx="1371600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5EA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9CCC507-AB0A-4CCA-8818-1A4134FF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62" y="29352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9050">
            <a:solidFill>
              <a:srgbClr val="5368D9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8D5E7B2-33C8-45EA-8ED4-8DED1FD9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053730"/>
            <a:ext cx="342351" cy="223845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9050">
            <a:solidFill>
              <a:srgbClr val="5368D9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707970D-7FE2-4524-8776-16379BFF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880360"/>
            <a:ext cx="804672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163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2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Interview Context</a:t>
            </a:r>
            <a:endParaRPr sz="92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4E74B68-4A18-46D7-8318-88CF1E88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063240"/>
            <a:ext cx="8046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55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70">
                <a:solidFill>
                  <a:srgbClr val="626262"/>
                </a:solidFill>
                <a:latin typeface="Aptos"/>
                <a:ea typeface="Aptos"/>
                <a:cs typeface="Aptos"/>
              </a:rPr>
              <a:t>Role, date, interviewer &amp; feedback</a:t>
            </a:r>
            <a:endParaRPr sz="67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6838026-587D-4BE1-B18B-4A72011C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920240"/>
            <a:ext cx="1261872" cy="1572768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CC1CA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3D3FD36-4CCB-4D1A-BB33-070F08F3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2996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68D9"/>
          </a:solidFill>
          <a:ln xmlns:a="http://schemas.openxmlformats.org/drawingml/2006/main" w="12700">
            <a:solidFill>
              <a:srgbClr val="5368D9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9B77D32-5895-461E-8F36-F37ADDE1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75688"/>
            <a:ext cx="4023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</a:t>
            </a:r>
            <a:endParaRPr sz="11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54F17F6-3BCF-42F9-B7EA-658820AE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51176"/>
            <a:ext cx="8961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30343B"/>
                </a:solidFill>
                <a:latin typeface="Aptos"/>
                <a:ea typeface="Aptos"/>
                <a:cs typeface="Aptos"/>
              </a:rPr>
              <a:t>HR AGENT</a:t>
            </a:r>
            <a:endParaRPr sz="12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A6C574F-77D2-49FC-B6F0-3C2F0B00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816352"/>
            <a:ext cx="93268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26262"/>
                </a:solidFill>
                <a:latin typeface="Aptos"/>
                <a:ea typeface="Aptos"/>
                <a:cs typeface="Aptos"/>
              </a:rPr>
              <a:t>Guided workflow</a:t>
            </a:r>
            <a:endParaRPr sz="7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E233346-B916-47D8-995A-60D17BE6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8376"/>
            <a:ext cx="9875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>
                <a:solidFill>
                  <a:srgbClr val="626262"/>
                </a:solidFill>
                <a:latin typeface="Aptos"/>
                <a:ea typeface="Aptos"/>
                <a:cs typeface="Aptos"/>
              </a:rPr>
              <a:t>19 technical criteria</a:t>
            </a:r>
            <a:endParaRPr sz="72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235C2968-5B90-4C53-997F-ED8AB674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679192"/>
            <a:ext cx="4389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368D9"/>
            </a:solidFill>
            <a:prstDash val="solid"/>
            <a:tailEnd type="triangle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893C812E-15CD-4A8A-B79A-2363CD0E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2679192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368D9"/>
            </a:solidFill>
            <a:prstDash val="solid"/>
            <a:tailEnd type="triangle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2F9F65F-6629-429D-A2EF-D69EB9B0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38528"/>
            <a:ext cx="1115568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5EA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B8CAAA56-2440-4A89-9773-81683937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075688"/>
            <a:ext cx="245791" cy="33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6510">
            <a:solidFill>
              <a:srgbClr val="43A99A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A160EEA-B8D9-4D5A-8B89-E862630D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495" y="2198583"/>
            <a:ext cx="13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3A99A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EAA734FD-3AD4-4A72-9FCB-82A84CBF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495" y="2260031"/>
            <a:ext cx="13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3A99A"/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21E7AA7-60B9-4AA0-B09C-A556F2A7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495" y="2321479"/>
            <a:ext cx="998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3A99A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44B861F-876F-4A1B-9C95-6818693A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011680"/>
            <a:ext cx="530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Candidate</a:t>
            </a:r>
            <a:endParaRPr sz="840"/>
          </a:p>
          <a:p xmlns:a="http://schemas.openxmlformats.org/drawingml/2006/main">
            <a:pPr marL="0" indent="0" algn="l">
              <a:buNone/>
            </a:pPr>
            <a:r>
              <a:rPr sz="8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Record</a:t>
            </a:r>
            <a:endParaRPr sz="84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A036DF0C-1148-4BA3-8EB0-E4B84EA9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377440"/>
            <a:ext cx="5303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018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">
                <a:solidFill>
                  <a:srgbClr val="626262"/>
                </a:solidFill>
                <a:latin typeface="Aptos"/>
                <a:ea typeface="Aptos"/>
                <a:cs typeface="Aptos"/>
              </a:rPr>
              <a:t>Phone searchable</a:t>
            </a:r>
            <a:endParaRPr sz="58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9257CC7E-240B-46C5-8C8E-7341B090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79776"/>
            <a:ext cx="1115568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3E5EA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0EC926FD-6D78-4567-A557-363A654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944368"/>
            <a:ext cx="271028" cy="271028"/>
          </a:xfrm>
          <a:prstGeom xmlns:a="http://schemas.openxmlformats.org/drawingml/2006/main" prst="roundRect">
            <a:avLst>
              <a:gd name="adj" fmla="val 269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3A99A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67A123C6-BCED-4946-8F26-6D7ED698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631" y="3087014"/>
            <a:ext cx="57059" cy="570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A99A"/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417AAC6E-73BE-4DB2-AA93-311352DA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689" y="3022824"/>
            <a:ext cx="99852" cy="1212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A99A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DFE1106C-E18B-43BF-A99E-DC3F5D80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843784"/>
            <a:ext cx="530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Score &amp;</a:t>
            </a:r>
            <a:endParaRPr sz="840"/>
          </a:p>
          <a:p xmlns:a="http://schemas.openxmlformats.org/drawingml/2006/main">
            <a:pPr marL="0" indent="0" algn="l">
              <a:buNone/>
            </a:pPr>
            <a:r>
              <a:rPr sz="8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Decision</a:t>
            </a:r>
            <a:endParaRPr sz="84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A847CCC5-9B75-436E-9B05-649EA0D0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218688"/>
            <a:ext cx="5303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">
                <a:solidFill>
                  <a:srgbClr val="626262"/>
                </a:solidFill>
                <a:latin typeface="Aptos"/>
                <a:ea typeface="Aptos"/>
                <a:cs typeface="Aptos"/>
              </a:rPr>
              <a:t>Pass / fail ready</a:t>
            </a:r>
            <a:endParaRPr sz="58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B6EB93C-0C20-4A21-BCE2-3F9ED602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97680"/>
            <a:ext cx="5138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30" b="1">
                <a:solidFill>
                  <a:srgbClr val="42464D"/>
                </a:solidFill>
                <a:latin typeface="Aptos"/>
                <a:ea typeface="Aptos"/>
                <a:cs typeface="Aptos"/>
              </a:rPr>
              <a:t>From structured intake to consistent, searchable hiring decisions</a:t>
            </a:r>
            <a:endParaRPr sz="113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3D15FB2-B609-40F5-8351-AC20B039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28016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1">
                <a:solidFill>
                  <a:srgbClr val="E60000"/>
                </a:solidFill>
                <a:latin typeface="Aptos"/>
                <a:ea typeface="Aptos"/>
                <a:cs typeface="Aptos"/>
              </a:rPr>
              <a:t>Challenge</a:t>
            </a:r>
            <a:endParaRPr sz="175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70B5140C-82CF-4821-A744-8D0EB32C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70078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CBEC98DA-3D24-4C2B-AB98-CE57615B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636776"/>
            <a:ext cx="4718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Unstructured Candidate Intake</a:t>
            </a:r>
            <a:endParaRPr sz="104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EA30CF5A-A596-45F5-88E5-C78B6886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56232"/>
            <a:ext cx="47183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626262"/>
                </a:solidFill>
                <a:latin typeface="Aptos"/>
                <a:ea typeface="Aptos"/>
                <a:cs typeface="Aptos"/>
              </a:rPr>
              <a:t>Missing phone data, inconsistent fields, and manual entry slow down the process.</a:t>
            </a:r>
            <a:endParaRPr sz="85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D25DED88-3A44-4258-8B44-FCC5C5BB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4231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DDED6C27-4067-4A58-B4DB-FB70F1EF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359152"/>
            <a:ext cx="4718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Hard-to-find Candidate Records</a:t>
            </a:r>
            <a:endParaRPr sz="104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5CFE6DEE-79DE-4D17-9815-F1EE0C8E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578608"/>
            <a:ext cx="47183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626262"/>
                </a:solidFill>
                <a:latin typeface="Aptos"/>
                <a:ea typeface="Aptos"/>
                <a:cs typeface="Aptos"/>
              </a:rPr>
              <a:t>Names alone can return multiple matches; recruiters need a reliable way to find the right profile.</a:t>
            </a:r>
            <a:endParaRPr sz="850"/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B0D627FB-26E3-46DE-B5AB-E5AE7005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145536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300DE6AB-7179-493A-9559-D5C8C469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081528"/>
            <a:ext cx="4718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40" b="1">
                <a:solidFill>
                  <a:srgbClr val="252525"/>
                </a:solidFill>
                <a:latin typeface="Aptos"/>
                <a:ea typeface="Aptos"/>
                <a:cs typeface="Aptos"/>
              </a:rPr>
              <a:t>Low Control During Data Entry</a:t>
            </a:r>
            <a:endParaRPr sz="104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E03DF290-D6EF-4948-BD8C-1E1B43C9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300984"/>
            <a:ext cx="47183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626262"/>
                </a:solidFill>
                <a:latin typeface="Aptos"/>
                <a:ea typeface="Aptos"/>
                <a:cs typeface="Aptos"/>
              </a:rPr>
              <a:t>Wrong answers can force users to restart, while long forms make correction and exit unclear.</a:t>
            </a:r>
            <a:endParaRPr sz="85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BC69CA5B-A50C-4EDC-AFEE-2D06B8C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1">
                <a:solidFill>
                  <a:srgbClr val="E60000"/>
                </a:solidFill>
                <a:latin typeface="Aptos"/>
                <a:ea typeface="Aptos"/>
                <a:cs typeface="Aptos"/>
              </a:rPr>
              <a:t>Solution</a:t>
            </a:r>
            <a:endParaRPr sz="175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B83E58B1-C787-4A8F-A478-C7855A15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315968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024AA2F7-6C42-44F2-85F2-5E3E311F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261104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10">
                <a:solidFill>
                  <a:srgbClr val="454545"/>
                </a:solidFill>
                <a:latin typeface="Aptos"/>
                <a:ea typeface="Aptos"/>
                <a:cs typeface="Aptos"/>
              </a:rPr>
              <a:t>Guided add, search, and update flows</a:t>
            </a:r>
            <a:endParaRPr sz="910"/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DD29FDE7-B320-4E49-A223-85889322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599432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CFD5DA1B-F7D4-4691-9DDF-C4525582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544568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10">
                <a:solidFill>
                  <a:srgbClr val="454545"/>
                </a:solidFill>
                <a:latin typeface="Aptos"/>
                <a:ea typeface="Aptos"/>
                <a:cs typeface="Aptos"/>
              </a:rPr>
              <a:t>Egyptian mobile validation and phone-based search</a:t>
            </a:r>
            <a:endParaRPr sz="91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661ED0A1-81B2-4723-90B5-1913A885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882896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3109D59F-C542-426F-B40C-6CE733D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82803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10">
                <a:solidFill>
                  <a:srgbClr val="454545"/>
                </a:solidFill>
                <a:latin typeface="Aptos"/>
                <a:ea typeface="Aptos"/>
                <a:cs typeface="Aptos"/>
              </a:rPr>
              <a:t>Multi-match selection before profile details</a:t>
            </a:r>
            <a:endParaRPr sz="910"/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A16D845F-DD4E-47F5-A92B-3F07964B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166360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0A33D4BE-F518-459B-A740-43E0AE2C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5111496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10">
                <a:solidFill>
                  <a:srgbClr val="454545"/>
                </a:solidFill>
                <a:latin typeface="Aptos"/>
                <a:ea typeface="Aptos"/>
                <a:cs typeface="Aptos"/>
              </a:rPr>
              <a:t>Structured 19-criteria assessment with comments</a:t>
            </a:r>
            <a:endParaRPr sz="910"/>
          </a:p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BEA12A64-BEE0-42CC-8326-DBB4939E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44982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D536DCE1-DBC2-4E55-A487-0BF98AFA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5394960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10">
                <a:solidFill>
                  <a:srgbClr val="454545"/>
                </a:solidFill>
                <a:latin typeface="Aptos"/>
                <a:ea typeface="Aptos"/>
                <a:cs typeface="Aptos"/>
              </a:rPr>
              <a:t>Automatic scoring with pass / fail recommendation</a:t>
            </a:r>
            <a:endParaRPr sz="910"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ADB3E287-1866-4BFB-B48D-BEFF19B9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733288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D48D7CFA-513F-4CF0-A846-443E06C6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5678424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10">
                <a:solidFill>
                  <a:srgbClr val="454545"/>
                </a:solidFill>
                <a:latin typeface="Aptos"/>
                <a:ea typeface="Aptos"/>
                <a:cs typeface="Aptos"/>
              </a:rPr>
              <a:t>Local records with exit, back, and auto-focus controls</a:t>
            </a:r>
            <a:endParaRPr sz="910"/>
          </a:p>
        </p:txBody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A63E9EED-71B1-4EDF-9E9F-2874B738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0000">
            <a:off x="548640" y="5961888"/>
            <a:ext cx="338328" cy="338328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6AE50ABE-7B9B-4CDE-90C9-0F5F74EC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4418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A3DD4864-A3BE-4B74-9D77-20E25A9A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934456"/>
            <a:ext cx="12618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E60000"/>
                </a:solidFill>
                <a:latin typeface="Aptos"/>
                <a:ea typeface="Aptos"/>
                <a:cs typeface="Aptos"/>
              </a:rPr>
              <a:t>vodafone</a:t>
            </a:r>
            <a:endParaRPr sz="2000"/>
          </a:p>
        </p:txBody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186A03B2-726C-40E3-94DD-BBC0E5A9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5568696"/>
            <a:ext cx="530352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69343080-5C8D-4904-99F8-37BCBC24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566928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BDA6D27D-EE14-4DAD-91F1-BB7F8660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456" y="566928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EA77D893-D993-4B36-AD72-D09D121F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5413248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60000"/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7FB4AD10-B6B4-4BB2-9309-C495B5B6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536752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12700">
            <a:solidFill>
              <a:srgbClr val="E60000"/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CD0D3BC7-3FF1-4E04-8B9A-0082F71D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5696712"/>
            <a:ext cx="100584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60000"/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42832AC0-3B84-4FC2-8CCC-1F8DB40E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5605272"/>
            <a:ext cx="100584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60000"/>
            </a:solidFill>
            <a:prstDash val="solid"/>
          </a:ln>
        </p:spPr>
      </p:sp>
      <p:sp>
        <p:nvSpPr>
          <p:cNvPr id="8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5F6AD8D-7188-444F-BB8B-F720CDF3626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02568" y="6547104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00">
                <a:solidFill>
                  <a:srgbClr val="999999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62422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2026-10-30T12:07:13.6250000Z</dcterms:created>
  <dcterms:modified xsi:type="dcterms:W3CDTF">2026-10-30T12:07:13.6250000Z</dcterms:modified>
</coreProperties>
</file>